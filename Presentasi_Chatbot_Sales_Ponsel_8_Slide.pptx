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6906555647407b" /><Relationship Type="http://schemas.openxmlformats.org/officeDocument/2006/relationships/extended-properties" Target="/docProps/app.xml" Id="R95910c21f77b4914" /><Relationship Type="http://schemas.openxmlformats.org/officeDocument/2006/relationships/officeDocument" Target="/ppt/presentation.xml" Id="Ra1bc9489ed2641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f7d45d2f554675"/>
  </p:sldMasterIdLst>
  <p:notesMasterIdLst>
    <p:notesMasterId xmlns:r="http://schemas.openxmlformats.org/officeDocument/2006/relationships" r:id="R01bb53e440a94b5e"/>
  </p:notesMasterIdLst>
  <p:sldIdLst>
    <p:sldId xmlns:r="http://schemas.openxmlformats.org/officeDocument/2006/relationships" id="256" r:id="R45f87d1f0f084f70"/>
    <p:sldId xmlns:r="http://schemas.openxmlformats.org/officeDocument/2006/relationships" id="257" r:id="R3d9cc62b21634669"/>
    <p:sldId xmlns:r="http://schemas.openxmlformats.org/officeDocument/2006/relationships" id="258" r:id="Rcaa95549176a4b21"/>
    <p:sldId xmlns:r="http://schemas.openxmlformats.org/officeDocument/2006/relationships" id="259" r:id="Rba6f978e1f6846c2"/>
    <p:sldId xmlns:r="http://schemas.openxmlformats.org/officeDocument/2006/relationships" id="260" r:id="Ra54ef51a97194353"/>
    <p:sldId xmlns:r="http://schemas.openxmlformats.org/officeDocument/2006/relationships" id="261" r:id="Rf5f6088b15304b4c"/>
    <p:sldId xmlns:r="http://schemas.openxmlformats.org/officeDocument/2006/relationships" id="262" r:id="Rf3870ba9bdd6432f"/>
    <p:sldId xmlns:r="http://schemas.openxmlformats.org/officeDocument/2006/relationships" id="263" r:id="R8bc115ecbc404a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86749a64f64e55" /><Relationship Type="http://schemas.openxmlformats.org/officeDocument/2006/relationships/slideMaster" Target="/ppt/slideMasters/slideMaster1.xml" Id="Rbff7d45d2f554675" /><Relationship Type="http://schemas.openxmlformats.org/officeDocument/2006/relationships/notesMaster" Target="/ppt/notesMasters/notesMaster1.xml" Id="R01bb53e440a94b5e" /><Relationship Type="http://schemas.openxmlformats.org/officeDocument/2006/relationships/presProps" Target="/ppt/presProps.xml" Id="R98994b8b632b4693" /><Relationship Type="http://schemas.openxmlformats.org/officeDocument/2006/relationships/tableStyles" Target="/ppt/tableStyles.xml" Id="R345b9b5e2cd14418" /><Relationship Type="http://schemas.openxmlformats.org/officeDocument/2006/relationships/slide" Target="/ppt/slides/slide1.xml" Id="R45f87d1f0f084f70" /><Relationship Type="http://schemas.openxmlformats.org/officeDocument/2006/relationships/slide" Target="/ppt/slides/slide2.xml" Id="R3d9cc62b21634669" /><Relationship Type="http://schemas.openxmlformats.org/officeDocument/2006/relationships/slide" Target="/ppt/slides/slide3.xml" Id="Rcaa95549176a4b21" /><Relationship Type="http://schemas.openxmlformats.org/officeDocument/2006/relationships/slide" Target="/ppt/slides/slide4.xml" Id="Rba6f978e1f6846c2" /><Relationship Type="http://schemas.openxmlformats.org/officeDocument/2006/relationships/slide" Target="/ppt/slides/slide5.xml" Id="Ra54ef51a97194353" /><Relationship Type="http://schemas.openxmlformats.org/officeDocument/2006/relationships/slide" Target="/ppt/slides/slide6.xml" Id="Rf5f6088b15304b4c" /><Relationship Type="http://schemas.openxmlformats.org/officeDocument/2006/relationships/slide" Target="/ppt/slides/slide7.xml" Id="Rf3870ba9bdd6432f" /><Relationship Type="http://schemas.openxmlformats.org/officeDocument/2006/relationships/slide" Target="/ppt/slides/slide8.xml" Id="R8bc115ecbc404a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184dd5160b41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c70c7b329b4c3b" /><Relationship Type="http://schemas.openxmlformats.org/officeDocument/2006/relationships/notesMaster" Target="/ppt/notesMasters/notesMaster1.xml" Id="R9b51ad78b6234f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46bd8996f843da" /><Relationship Type="http://schemas.openxmlformats.org/officeDocument/2006/relationships/notesMaster" Target="/ppt/notesMasters/notesMaster1.xml" Id="Rf0874bc6bd69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5099ce86e34cb5" /><Relationship Type="http://schemas.openxmlformats.org/officeDocument/2006/relationships/notesMaster" Target="/ppt/notesMasters/notesMaster1.xml" Id="Re2f6c07c7aca41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e6c6ce5e2444cb" /><Relationship Type="http://schemas.openxmlformats.org/officeDocument/2006/relationships/notesMaster" Target="/ppt/notesMasters/notesMaster1.xml" Id="R988107aada8b4c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28ef3a8753404b" /><Relationship Type="http://schemas.openxmlformats.org/officeDocument/2006/relationships/notesMaster" Target="/ppt/notesMasters/notesMaster1.xml" Id="R29a64c24994647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db21a4b8bd490d" /><Relationship Type="http://schemas.openxmlformats.org/officeDocument/2006/relationships/notesMaster" Target="/ppt/notesMasters/notesMaster1.xml" Id="Rfe54843a9f9943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0565e4d52c4033" /><Relationship Type="http://schemas.openxmlformats.org/officeDocument/2006/relationships/notesMaster" Target="/ppt/notesMasters/notesMaster1.xml" Id="R47d265f7ae074c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66b175894146ea" /><Relationship Type="http://schemas.openxmlformats.org/officeDocument/2006/relationships/notesMaster" Target="/ppt/notesMasters/notesMaster1.xml" Id="R266af9316dc74a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empat file proyek yang diberikan pengguna. Data CSV contoh terdiri dari 100 baris produk dengan 2.826 unit stok.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Rujukan: app.py, fungsi jawaban_data dan jawaban_perhitungan; rag_chatbot.py, fungsi buat_rag_chain.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rag_chatbot.py, konstanta TOP_K=3, muat_dokumen, bangun_vectorstore, buat_rag_chain; app.py, baca_produk dan jawaban_data. Embedding model tidak ditentukan eksplisit dalam kode; jangan mengklaim model tertentu.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Cuplikan dari app.py fungsi muat_dokumen_produk. Baris page_content dipecah untuk keterbacaan tanpa mengubah logika.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rag_chatbot.py. Model chat yang tertulis di berkas adalah openai/gpt-oss-120b melalui ChatGroq. system_prompt.md memberi batasan bahwa RAG hanya memuat beberapa baris dan angka agregat harus dihitung oleh aplikasi.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Angka contoh: Apple iPhone 11 Rp1.674.000 per unit; Samsung Galaxy A15 Rp2.499.000 per unit. Perhitungan: 2×1.674.000 + 3×2.499.000 = Rp10.845.000. Potongan kode ringkas dari 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Hasil uji deterministik pada CSV 100 baris yang diberikan pengguna. Pertanyaan 1, 2, 3, 4, 5, 6 diharapkan dijawab oleh fungsi app.py. Pengujian panggilan Groq tidak tersedia di lingkungan penyusunan.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 5 pada gambar kriteria tugas menyebut test set minimal 5 pertanyaan dan demo 5–7 menit. Evaluasi Groq secara langsung belum dijalankan; gunakan slide ini sebagai urutan demo dan kriteria pemeriksaan.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47d956a6542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d06b0d21df48af" /><Relationship Type="http://schemas.openxmlformats.org/officeDocument/2006/relationships/slideLayout" Target="/ppt/slideLayouts/slideLayout1.xml" Id="R305e0758cb7547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5e0758cb7547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b52475c384ae7" /><Relationship Type="http://schemas.openxmlformats.org/officeDocument/2006/relationships/notesSlide" Target="/ppt/notesSlides/notesSlide1.xml" Id="R4ea183fe1e2e4a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84de8e3494925" /><Relationship Type="http://schemas.openxmlformats.org/officeDocument/2006/relationships/notesSlide" Target="/ppt/notesSlides/notesSlide2.xml" Id="R293304f8ab0745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12b3fb3724117" /><Relationship Type="http://schemas.openxmlformats.org/officeDocument/2006/relationships/notesSlide" Target="/ppt/notesSlides/notesSlide3.xml" Id="R8ddd32208b474b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d0c9138004ef6" /><Relationship Type="http://schemas.openxmlformats.org/officeDocument/2006/relationships/notesSlide" Target="/ppt/notesSlides/notesSlide4.xml" Id="R6db568f73be046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a6bb128bf4ecf" /><Relationship Type="http://schemas.openxmlformats.org/officeDocument/2006/relationships/notesSlide" Target="/ppt/notesSlides/notesSlide5.xml" Id="R4171e43e8dc443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4f7862b484844" /><Relationship Type="http://schemas.openxmlformats.org/officeDocument/2006/relationships/notesSlide" Target="/ppt/notesSlides/notesSlide6.xml" Id="R4a446d7a15804f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d24ec0a7a49c2" /><Relationship Type="http://schemas.openxmlformats.org/officeDocument/2006/relationships/notesSlide" Target="/ppt/notesSlides/notesSlide7.xml" Id="R4bdb20155f304f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663fce08f4cc0" /><Relationship Type="http://schemas.openxmlformats.org/officeDocument/2006/relationships/notesSlide" Target="/ppt/notesSlides/notesSlide8.xml" Id="R8bace833b0a94f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9A274-D132-4EA8-8FD9-23284A7C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Chatbot Sales Ponsel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11F90-6972-4123-8385-F5325BC8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7DEF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7DEF9"/>
                </a:solidFill>
                <a:latin typeface="DejaVu Sans"/>
                <a:ea typeface="DejaVu Sans"/>
                <a:cs typeface="DejaVu Sans"/>
              </a:rPr>
              <a:t>Arsitektur RAG, perhitungan katalog, dan evaluasi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C2172-F547-4B0E-9241-C4B90668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100 model     20 merek     2.826 unit stok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7C467-594C-4205-96EA-4D5DEF15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7DE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C7DEF9"/>
                </a:solidFill>
                <a:latin typeface="DejaVu Sans"/>
                <a:ea typeface="DejaVu Sans"/>
                <a:cs typeface="DejaVu Sans"/>
              </a:rPr>
              <a:t>Studi kasus berdasarkan app.py, rag_chatbot.py, system_prompt.md, dan CSV 100 baris</a:t>
            </a:r>
          </a:p>
        </p:txBody>
      </p:sp>
    </p:spTree>
    <p:extLst>
      <p:ext uri="{BB962C8B-B14F-4D97-AF65-F5344CB8AC3E}">
        <p14:creationId xmlns:p14="http://schemas.microsoft.com/office/powerpoint/2010/main" val="992064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E4647-2009-4295-811B-2BF121C7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rPr>
              <a:t>Latar belakang dan tujuan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91E49-DEE0-48C4-9133-5EC8057D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rPr>
              <a:t>CHATBOT SALES PONSEL     02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A7D14-F45D-4FBD-8AF8-52ACC222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75DA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75DA8"/>
                </a:solidFill>
                <a:latin typeface="DejaVu Sans"/>
                <a:ea typeface="DejaVu Sans"/>
                <a:cs typeface="DejaVu Sans"/>
              </a:rPr>
              <a:t>Masalah yang ditangani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021F3-BEB9-4F67-ACC7-AE10DD5D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053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Pelanggan menanyakan pilihan model, harga, stok, dan total belanja. Pencarian vektor saja hanya melihat beberapa dokumen, sehingga tidak cukup untuk menghitung seluruh katalog.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BB15B-D596-48B7-8A64-DD2D11EF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75DA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75DA8"/>
                </a:solidFill>
                <a:latin typeface="DejaVu Sans"/>
                <a:ea typeface="DejaVu Sans"/>
                <a:cs typeface="DejaVu Sans"/>
              </a:rPr>
              <a:t>Tujuan aplikasi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E05A2-F583-4BFF-8962-25B8A8A1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Membantu pelanggan memilih ponsel melalui dialog. Jawaban deskriptif memakai RAG, sedangkan daftar katalog dan angka dihitung langsung dari 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0F609-637A-4E80-BF1E-740AC814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6F79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16F79"/>
                </a:solidFill>
                <a:latin typeface="DejaVu Sans"/>
                <a:ea typeface="DejaVu Sans"/>
                <a:cs typeface="DejaVu Sans"/>
              </a:rPr>
              <a:t>Manfaat: informasi produk lebih cepat dicari dan perhitungan stok maupun pesanan tetap dapat ditelusuri ke data.</a:t>
            </a:r>
          </a:p>
        </p:txBody>
      </p:sp>
    </p:spTree>
    <p:extLst>
      <p:ext uri="{BB962C8B-B14F-4D97-AF65-F5344CB8AC3E}">
        <p14:creationId xmlns:p14="http://schemas.microsoft.com/office/powerpoint/2010/main" val="219590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B8BAE-9A5B-4287-B880-E9707A72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rPr>
              <a:t>Arsitektur dan sumber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B81A7-1512-4DA6-8591-F15B79B5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rPr>
              <a:t>CHATBOT SALES PONSEL     03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2D6CE-A6A0-4420-8B44-6FC9DAB9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668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5DA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75DA8"/>
                </a:solidFill>
                <a:latin typeface="DejaVu Sans"/>
                <a:ea typeface="DejaVu Sans"/>
                <a:cs typeface="DejaVu Sans"/>
              </a:rPr>
              <a:t>CSV produk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821FA-ED60-42AF-9813-31B3875E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9775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100 baris</a:t>
            </a:r>
          </a:p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ID, model, spesifikasi, tahun, harga, stok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1CB2F-B070-4412-BA8B-B23A0209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466850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5DA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75DA8"/>
                </a:solidFill>
                <a:latin typeface="DejaVu Sans"/>
                <a:ea typeface="DejaVu Sans"/>
                <a:cs typeface="DejaVu Sans"/>
              </a:rPr>
              <a:t>Ingestion dan indeks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4BB81-078F-4E25-8A3C-7709C6E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09775"/>
            <a:ext cx="3524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Setiap baris menjadi Document. Teks dipotong menjadi chunk, diubah menjadi embedding, lalu disimpan di Chroma.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7580F-696C-43A3-A956-5E5432E6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668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5DA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75DA8"/>
                </a:solidFill>
                <a:latin typeface="DejaVu Sans"/>
                <a:ea typeface="DejaVu Sans"/>
                <a:cs typeface="DejaVu Sans"/>
              </a:rPr>
              <a:t>Dua jalur jawaban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F2D7D-CF63-41E0-9599-EE19757E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9775"/>
            <a:ext cx="3905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Pertanyaan umum: retriever dan LLM Groq.</a:t>
            </a:r>
          </a:p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Angka katalog: fungsi Python membaca seluruh CSV.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3D4EA-DE98-4D71-A467-3A2C329A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Pertanyaan pelanggan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DA41E-033C-42DA-B14B-728A5AC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619625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Pencarian konteks / hitung 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B6862-056D-4116-96C4-7A16008E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1962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Jawaban di Streamlit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C568C-3544-4A29-9A0E-655F2BD5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6F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16F79"/>
                </a:solidFill>
                <a:latin typeface="DejaVu Sans"/>
                <a:ea typeface="DejaVu Sans"/>
                <a:cs typeface="DejaVu Sans"/>
              </a:rPr>
              <a:t>RAG mengambil TOP_K = 3. Total stok dan daftar merek memakai seluruh CSV.</a:t>
            </a:r>
          </a:p>
        </p:txBody>
      </p:sp>
    </p:spTree>
    <p:extLst>
      <p:ext uri="{BB962C8B-B14F-4D97-AF65-F5344CB8AC3E}">
        <p14:creationId xmlns:p14="http://schemas.microsoft.com/office/powerpoint/2010/main" val="2130001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259C3-05D7-4E8C-99DD-661D28DA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rPr>
              <a:t>Ingestion: CSV menjadi dokumen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91EA7-AA85-40B4-95F5-6FEB552E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rPr>
              <a:t>CHATBOT SALES PONSEL     04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F6303-91A5-4AFE-925E-74018C6D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Satu baris produk dijaga sebagai satu dokumen agar harga dan stok tetap terkait dengan modelnya.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EE184-2A19-4151-98D3-0606ACD8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5727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# app.py: muat_dokumen_produk()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dokumen = [Document(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page_content="\n".join(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    f"{k}: {v}"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    for k, v in item["data"].items()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    if v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),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metadata={"source": item["source"], "row": item["row"]},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) for item in produk]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if any(folder.glob("*.pdf")):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dokumen.extend(muat_dokumen(folder))</a:t>
            </a:r>
          </a:p>
        </p:txBody>
      </p:sp>
    </p:spTree>
    <p:extLst>
      <p:ext uri="{BB962C8B-B14F-4D97-AF65-F5344CB8AC3E}">
        <p14:creationId xmlns:p14="http://schemas.microsoft.com/office/powerpoint/2010/main" val="184990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84831-3638-4D10-8756-54EF5E04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rPr>
              <a:t>Retrieval dan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7562C-5C6D-4ED1-A064-CECCCAA5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rPr>
              <a:t>CHATBOT SALES PONSEL     05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49FD6-94CF-4E4A-B491-CE795B2E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Setelah chunking, vector store mencari konteks terdekat. Prompt mengatur jawaban sales yang teliti dan tidak mengarang harga atau stok.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D9B4E-E278-4BC4-B1E5-70420FDD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382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# rag_chatbot.py: bangun_vectorstore()</a:t>
            </a:r>
          </a:p>
          <a:p xmlns:a="http://schemas.openxmlformats.org/drawingml/2006/main">
            <a:pPr>
              <a:def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splitter = RecursiveCharacterTextSplitter(</a:t>
            </a:r>
          </a:p>
          <a:p xmlns:a="http://schemas.openxmlformats.org/drawingml/2006/main">
            <a:pPr>
              <a:def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chunk_size=500, chunk_overlap=50)</a:t>
            </a:r>
          </a:p>
          <a:p xmlns:a="http://schemas.openxmlformats.org/drawingml/2006/main">
            <a:pPr>
              <a:def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potongan = splitter.split_documents(dokumen)</a:t>
            </a:r>
          </a:p>
          <a:p xmlns:a="http://schemas.openxmlformats.org/drawingml/2006/main">
            <a:pPr>
              <a:def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vectorstore = Chroma(collection_name=COLLECTION_NAME)</a:t>
            </a:r>
          </a:p>
          <a:p xmlns:a="http://schemas.openxmlformats.org/drawingml/2006/main">
            <a:pPr>
              <a:def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vectorstore.add_documents(potongan)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# app.py: siapkan_chatbot()</a:t>
            </a:r>
          </a:p>
          <a:p xmlns:a="http://schemas.openxmlformats.org/drawingml/2006/main">
            <a:pPr>
              <a:def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retriever = vectorstore.as_retriever(</a:t>
            </a:r>
          </a:p>
          <a:p xmlns:a="http://schemas.openxmlformats.org/drawingml/2006/main">
            <a:pPr>
              <a:def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search_kwargs={"k": TOP_K})</a:t>
            </a:r>
          </a:p>
          <a:p xmlns:a="http://schemas.openxmlformats.org/drawingml/2006/main">
            <a:pPr>
              <a:def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return buat_rag_chain(retriever, model, system_prompt)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E75C6-A71A-4B62-8E87-91728F2E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6F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16F79"/>
                </a:solidFill>
                <a:latin typeface="DejaVu Sans"/>
                <a:ea typeface="DejaVu Sans"/>
                <a:cs typeface="DejaVu Sans"/>
              </a:rPr>
              <a:t>Generation: konteks hasil retrieval + pertanyaan masuk ke ChatPromptTemplate, lalu ChatGroq dan StrOutputParser.</a:t>
            </a:r>
          </a:p>
        </p:txBody>
      </p:sp>
    </p:spTree>
    <p:extLst>
      <p:ext uri="{BB962C8B-B14F-4D97-AF65-F5344CB8AC3E}">
        <p14:creationId xmlns:p14="http://schemas.microsoft.com/office/powerpoint/2010/main" val="704684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E1B32-2634-4B6B-8B0E-D0A84DF9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rPr>
              <a:t>Perhitungan langsung dari CSV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77D5C-6A28-455E-AFE2-E440E007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rPr>
              <a:t>CHATBOT SALES PONSEL     06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7FA29-88B5-4066-92E9-67E5A99F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Pertanyaan angka diarahkan ke fungsi Python. Total stok dan subtotal pesanan tidak disimpulkan oleh LLM.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647B4-D803-4117-80EC-124E69F9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477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# app.py: jawaban_perhitungan()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nilai = sum(p["harga"] * p["stok"] for p in 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# app.py: ringkasan_pesanan()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subtotal = 0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for item, jumlah in pesanan.values():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nilai = item["harga"] * jumlah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subtotal += nilai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if jumlah &gt; item["stok"]: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    stok_kurang.append(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        f"{item['nama']} (diminta {jumlah}, "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        f"stok {item['stok']})"</a:t>
            </a:r>
          </a:p>
          <a:p xmlns:a="http://schemas.openxmlformats.org/drawingml/2006/main">
            <a:pPr>
              <a:def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02746"/>
                </a:solidFill>
                <a:latin typeface="DejaVu Sans Mono"/>
                <a:ea typeface="DejaVu Sans Mono"/>
                <a:cs typeface="DejaVu Sans Mono"/>
              </a:rPr>
              <a:t>        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1E2BD-136F-40B1-A2C9-FC7B2ADB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6F7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16F79"/>
                </a:solidFill>
                <a:latin typeface="DejaVu Sans"/>
                <a:ea typeface="DejaVu Sans"/>
                <a:cs typeface="DejaVu Sans"/>
              </a:rPr>
              <a:t>Contoh: 2 iPhone 11 + 3 Galaxy A15 = Rp10.845.000. Simulasi tidak mengurangi stok.</a:t>
            </a:r>
          </a:p>
        </p:txBody>
      </p:sp>
    </p:spTree>
    <p:extLst>
      <p:ext uri="{BB962C8B-B14F-4D97-AF65-F5344CB8AC3E}">
        <p14:creationId xmlns:p14="http://schemas.microsoft.com/office/powerpoint/2010/main" val="421567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55DCF-6370-462A-AE63-8386DAA8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rPr>
              <a:t>Test set: enam pertanyaan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08F82-8BFC-4F53-9374-2F10BFC2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rPr>
              <a:t>CHATBOT SALES PONSEL     07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7E232-380D-4358-BB73-44BE2C9A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5DA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75DA8"/>
                </a:solidFill>
                <a:latin typeface="DejaVu Sans"/>
                <a:ea typeface="DejaVu Sans"/>
                <a:cs typeface="DejaVu Sans"/>
              </a:rPr>
              <a:t>Input pelanggan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8FBE6-15ED-4772-97EF-D9B89ECA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62075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5DA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75DA8"/>
                </a:solidFill>
                <a:latin typeface="DejaVu Sans"/>
                <a:ea typeface="DejaVu Sans"/>
                <a:cs typeface="DejaVu Sans"/>
              </a:rPr>
              <a:t>Hasil yang diharapkan dari 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AEC8A-DEBD-4A79-A7EF-F7BD2220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1. Merek apa saja yang tersedia?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98A52-E709-4543-89C3-B850A14D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20 merek lengkap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E9E00-4AE0-4BE5-83F5-69C626B3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2. Berapa total stok semua ponsel?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894E2-D3AE-4AFA-9692-7F81AB35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2.826 unit dari 100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1324C-ED31-464B-9866-916194D3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3. Daftar 5 harga tertinggi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CAD25-E3E1-4406-BC81-91E816C3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iQOO 12 teratas, Rp11.424.000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397E8-990E-4365-AF4C-97D292BB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4. Berapa stok per merek?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E08AA-9AB6-4B90-91CD-A4B3F032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iPhone 113 unit; total 2.826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5785A-9DA0-43B7-94B1-88F80B99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5. Beli 2 iPhone 11 dan 3 Galaxy A15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AD672-7F16-4701-B8DF-DC05EC45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Subtotal Rp10.845.000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A3328-C096-4A15-B5E4-9747A536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6. Stok iPhone 99?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D048F-A056-474A-BE16-434BE522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Model tidak ditemukan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87FA9-C2F7-434E-8372-BBDF9CDF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6F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16F79"/>
                </a:solidFill>
                <a:latin typeface="DejaVu Sans"/>
                <a:ea typeface="DejaVu Sans"/>
                <a:cs typeface="DejaVu Sans"/>
              </a:rPr>
              <a:t>Uji lokal fungsi CSV lulus. Jawaban model Groq tetap perlu diperiksa saat demo langsung.</a:t>
            </a:r>
          </a:p>
        </p:txBody>
      </p:sp>
    </p:spTree>
    <p:extLst>
      <p:ext uri="{BB962C8B-B14F-4D97-AF65-F5344CB8AC3E}">
        <p14:creationId xmlns:p14="http://schemas.microsoft.com/office/powerpoint/2010/main" val="795216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5B058-FEE7-47BF-BA6F-FEFCFB75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746"/>
                </a:solidFill>
                <a:latin typeface="DejaVu Sans"/>
                <a:ea typeface="DejaVu Sans"/>
                <a:cs typeface="DejaVu Sans"/>
              </a:rPr>
              <a:t>Alur demo dan evaluasi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0EE8D-0F8A-46E1-BA03-36405FCF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78F"/>
                </a:solidFill>
                <a:latin typeface="DejaVu Sans"/>
                <a:ea typeface="DejaVu Sans"/>
                <a:cs typeface="DejaVu Sans"/>
              </a:rPr>
              <a:t>CHATBOT SALES PONSEL     08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AF8DA-AD47-4505-BB3B-AD4C2C4B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5DA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75DA8"/>
                </a:solidFill>
                <a:latin typeface="DejaVu Sans"/>
                <a:ea typeface="DejaVu Sans"/>
                <a:cs typeface="DejaVu Sans"/>
              </a:rPr>
              <a:t>Demo 5–7 menit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FE436-2677-40CE-84CB-3FA03072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715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0:00–1:00  Buka dashboard dan jelaskan data</a:t>
            </a:r>
          </a:p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1:00–2:30  Tampilkan daftar merek dan harga</a:t>
            </a:r>
          </a:p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2:30–4:00  Uji stok seluruh katalog dan per merek</a:t>
            </a:r>
          </a:p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4:00–5:30  Simulasikan pesanan multi model</a:t>
            </a:r>
          </a:p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5:30–7:00  Uji salah ketik dan batasan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AFA8C-83BF-4E42-8371-80E20932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3620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5DA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75DA8"/>
                </a:solidFill>
                <a:latin typeface="DejaVu Sans"/>
                <a:ea typeface="DejaVu Sans"/>
                <a:cs typeface="DejaVu Sans"/>
              </a:rPr>
              <a:t>Kriteria evaluasi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0F00B-DE8F-486C-8AAB-745E9A11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19300"/>
            <a:ext cx="43815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• Jumlah merek sesuai CSV</a:t>
            </a:r>
          </a:p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• Total stok dan subtotal tepat</a:t>
            </a:r>
          </a:p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• Model tidak ada tidak dikarang</a:t>
            </a:r>
          </a:p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• Jawaban RAG menyebut batasan data</a:t>
            </a:r>
          </a:p>
          <a:p xmlns:a="http://schemas.openxmlformats.org/drawingml/2006/main">
            <a:pPr>
              <a:def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24F"/>
                </a:solidFill>
                <a:latin typeface="DejaVu Sans"/>
                <a:ea typeface="DejaVu Sans"/>
                <a:cs typeface="DejaVu Sans"/>
              </a:rPr>
              <a:t>• Tampilan mudah dibaca saat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D50BA-18CA-44CA-94A4-6E2775C5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6F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16F79"/>
                </a:solidFill>
                <a:latin typeface="DejaVu Sans"/>
                <a:ea typeface="DejaVu Sans"/>
                <a:cs typeface="DejaVu Sans"/>
              </a:rPr>
              <a:t>Batasan: stok dan harga mengikuti CSV contoh. Diskon hanya simulasi jika diminta; aplikasi belum memproses transaksi.</a:t>
            </a:r>
          </a:p>
        </p:txBody>
      </p:sp>
    </p:spTree>
    <p:extLst>
      <p:ext uri="{BB962C8B-B14F-4D97-AF65-F5344CB8AC3E}">
        <p14:creationId xmlns:p14="http://schemas.microsoft.com/office/powerpoint/2010/main" val="1433767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2026-09-27T14:27:24.3680000Z</dcterms:created>
  <dcterms:modified xsi:type="dcterms:W3CDTF">2026-09-27T14:27:24.3680000Z</dcterms:modified>
</coreProperties>
</file>